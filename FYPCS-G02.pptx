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64" r:id="rId11"/>
    <p:sldId id="276" r:id="rId12"/>
    <p:sldId id="265" r:id="rId13"/>
    <p:sldId id="277" r:id="rId14"/>
    <p:sldId id="266" r:id="rId15"/>
    <p:sldId id="280" r:id="rId16"/>
    <p:sldId id="278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imes New Roman Bold" panose="02020803070505020304" pitchFamily="18" charset="0"/>
      <p:bold r:id="rId23"/>
    </p:embeddedFont>
    <p:embeddedFont>
      <p:font typeface="Tahoma" panose="020B0604030504040204" pitchFamily="34" charset="0"/>
      <p:regular r:id="rId24"/>
      <p:bold r:id="rId25"/>
    </p:embeddedFont>
    <p:embeddedFont>
      <p:font typeface="Canva Sans" panose="020B0604020202020204" charset="0"/>
      <p:regular r:id="rId26"/>
    </p:embeddedFont>
    <p:embeddedFont>
      <p:font typeface="Times New Roman MT" panose="020B0604020202020204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21" autoAdjust="0"/>
    <p:restoredTop sz="94622" autoAdjust="0"/>
  </p:normalViewPr>
  <p:slideViewPr>
    <p:cSldViewPr>
      <p:cViewPr varScale="1">
        <p:scale>
          <a:sx n="44" d="100"/>
          <a:sy n="44" d="100"/>
        </p:scale>
        <p:origin x="7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0" y="441158"/>
            <a:ext cx="9372600" cy="2416342"/>
          </a:xfrm>
          <a:custGeom>
            <a:avLst/>
            <a:gdLst/>
            <a:ahLst/>
            <a:cxnLst/>
            <a:rect l="l" t="t" r="r" b="b"/>
            <a:pathLst>
              <a:path w="8684235" h="2362920">
                <a:moveTo>
                  <a:pt x="0" y="0"/>
                </a:moveTo>
                <a:lnTo>
                  <a:pt x="8684235" y="0"/>
                </a:lnTo>
                <a:lnTo>
                  <a:pt x="8684235" y="2362920"/>
                </a:lnTo>
                <a:lnTo>
                  <a:pt x="0" y="2362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2001" y="2443130"/>
            <a:ext cx="1803743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200000"/>
              </a:lnSpc>
            </a:pPr>
            <a:r>
              <a:rPr lang="en-US" sz="6000" b="1" dirty="0" smtClean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400" b="1" dirty="0" smtClean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ASSISTANT ECOMMERCE STORE (StitchSmart)</a:t>
            </a:r>
            <a:endParaRPr lang="en-US" sz="5400" b="1" dirty="0">
              <a:solidFill>
                <a:srgbClr val="2C2C6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810000" y="4066983"/>
            <a:ext cx="13106400" cy="5283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</a:pPr>
            <a:r>
              <a:rPr lang="en-US" sz="2800" b="1" spc="399" dirty="0" smtClean="0">
                <a:solidFill>
                  <a:srgbClr val="2C2C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marL="0" lvl="0" indent="0" algn="ctr">
              <a:lnSpc>
                <a:spcPts val="2799"/>
              </a:lnSpc>
            </a:pPr>
            <a:endParaRPr lang="en-US" sz="2800" b="1" spc="399" dirty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lvl="0" algn="ctr">
              <a:lnSpc>
                <a:spcPts val="2799"/>
              </a:lnSpc>
            </a:pPr>
            <a:r>
              <a:rPr lang="en-US" sz="2400" spc="399" dirty="0" smtClean="0">
                <a:solidFill>
                  <a:srgbClr val="2C2C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</a:t>
            </a:r>
          </a:p>
          <a:p>
            <a:pPr lvl="0" algn="ctr">
              <a:lnSpc>
                <a:spcPts val="2799"/>
              </a:lnSpc>
            </a:pPr>
            <a:endParaRPr lang="en-US" sz="2400" spc="399" dirty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0" lvl="0" indent="0" algn="ctr">
              <a:lnSpc>
                <a:spcPts val="3079"/>
              </a:lnSpc>
            </a:pPr>
            <a:endParaRPr lang="en-US" sz="2199" spc="439" dirty="0" smtClean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0" lvl="0" indent="0" algn="ctr">
              <a:lnSpc>
                <a:spcPts val="3079"/>
              </a:lnSpc>
            </a:pPr>
            <a:endParaRPr lang="en-US" sz="2199" spc="439" dirty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0" lvl="0" indent="0" algn="ctr">
              <a:lnSpc>
                <a:spcPts val="3079"/>
              </a:lnSpc>
            </a:pPr>
            <a:endParaRPr lang="en-US" sz="2199" spc="439" dirty="0" smtClean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0" lvl="0" indent="0" algn="ctr">
              <a:lnSpc>
                <a:spcPts val="3079"/>
              </a:lnSpc>
            </a:pPr>
            <a:endParaRPr lang="en-US" sz="2199" spc="439" dirty="0" smtClean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3079"/>
              </a:lnSpc>
            </a:pPr>
            <a:r>
              <a:rPr lang="en-US" sz="2400" b="1" spc="439" dirty="0" smtClean="0">
                <a:solidFill>
                  <a:srgbClr val="2C2C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400" b="1" dirty="0" smtClean="0">
                <a:solidFill>
                  <a:srgbClr val="2C2C6A"/>
                </a:solidFill>
                <a:latin typeface="Times New Roman"/>
              </a:rPr>
              <a:t>SUPERVISOR</a:t>
            </a:r>
            <a:r>
              <a:rPr lang="en-US" sz="2400" b="1" dirty="0">
                <a:solidFill>
                  <a:srgbClr val="2C2C6A"/>
                </a:solidFill>
                <a:latin typeface="Times New Roman"/>
              </a:rPr>
              <a:t>: </a:t>
            </a:r>
            <a:r>
              <a:rPr lang="en-US" sz="2400" b="1" dirty="0" smtClean="0">
                <a:solidFill>
                  <a:srgbClr val="2C2C6A"/>
                </a:solidFill>
                <a:latin typeface="Times New Roman"/>
              </a:rPr>
              <a:t>SIR TANVEER AHMED</a:t>
            </a:r>
            <a:endParaRPr lang="en-US" sz="2400" b="1" dirty="0">
              <a:solidFill>
                <a:srgbClr val="2C2C6A"/>
              </a:solidFill>
              <a:latin typeface="Times New Roman"/>
            </a:endParaRPr>
          </a:p>
          <a:p>
            <a:pPr algn="ctr">
              <a:lnSpc>
                <a:spcPts val="3079"/>
              </a:lnSpc>
            </a:pPr>
            <a:endParaRPr lang="en-US" sz="2400" dirty="0" smtClean="0">
              <a:solidFill>
                <a:srgbClr val="2C2C6A"/>
              </a:solidFill>
              <a:latin typeface="Times New Roman"/>
            </a:endParaRPr>
          </a:p>
          <a:p>
            <a:pPr algn="ctr">
              <a:lnSpc>
                <a:spcPts val="3079"/>
              </a:lnSpc>
            </a:pPr>
            <a:r>
              <a:rPr lang="en-US" sz="2400" dirty="0" smtClean="0">
                <a:solidFill>
                  <a:srgbClr val="2C2C6A"/>
                </a:solidFill>
                <a:latin typeface="Times New Roman"/>
              </a:rPr>
              <a:t>DEPARTMENT </a:t>
            </a:r>
            <a:r>
              <a:rPr lang="en-US" sz="2400" dirty="0">
                <a:solidFill>
                  <a:srgbClr val="2C2C6A"/>
                </a:solidFill>
                <a:latin typeface="Times New Roman"/>
              </a:rPr>
              <a:t>OF COMPUTER SCIENCE | UNIVERSITY OF CENTRAL PUNJAB (UCP)</a:t>
            </a:r>
          </a:p>
          <a:p>
            <a:pPr marL="0" lvl="0" indent="0" algn="ctr">
              <a:lnSpc>
                <a:spcPts val="3079"/>
              </a:lnSpc>
            </a:pPr>
            <a:endParaRPr lang="en-US" sz="2400" b="1" spc="439" dirty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0" lvl="0" indent="0" algn="ctr">
              <a:lnSpc>
                <a:spcPts val="2799"/>
              </a:lnSpc>
            </a:pPr>
            <a:r>
              <a:rPr lang="en-US" sz="1999" spc="399" dirty="0" smtClean="0">
                <a:solidFill>
                  <a:srgbClr val="2C2C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</a:t>
            </a:r>
          </a:p>
          <a:p>
            <a:pPr marL="0" lvl="0" indent="0" algn="ctr"/>
            <a:r>
              <a:rPr lang="en-US" sz="1999" spc="399" dirty="0" smtClean="0">
                <a:solidFill>
                  <a:srgbClr val="2C2C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endParaRPr lang="en-US" sz="1999" spc="399" dirty="0">
              <a:solidFill>
                <a:srgbClr val="2C2C6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97682" y="8267796"/>
            <a:ext cx="7566068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3"/>
              </a:lnSpc>
            </a:pPr>
            <a:endParaRPr lang="en-US" sz="2088" b="1" spc="146" dirty="0">
              <a:solidFill>
                <a:srgbClr val="2C2C6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0" lvl="0" indent="0" algn="ctr">
              <a:lnSpc>
                <a:spcPts val="2923"/>
              </a:lnSpc>
            </a:pPr>
            <a:r>
              <a:rPr lang="en-US" sz="2400" spc="146" dirty="0" smtClean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FYP </a:t>
            </a:r>
            <a:r>
              <a:rPr lang="en-US" sz="2400" spc="146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Internal Evaluation Presentation </a:t>
            </a:r>
          </a:p>
          <a:p>
            <a:pPr marL="0" lvl="0" indent="0" algn="ctr">
              <a:lnSpc>
                <a:spcPts val="2923"/>
              </a:lnSpc>
            </a:pPr>
            <a:r>
              <a:rPr lang="en-US" sz="2400" spc="146" dirty="0" smtClean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Academic </a:t>
            </a:r>
            <a:r>
              <a:rPr lang="en-US" sz="2400" spc="146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Session Spring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37266" y="9559925"/>
            <a:ext cx="7566068" cy="32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17 JULY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8800" y="9210675"/>
            <a:ext cx="136256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759639"/>
              </p:ext>
            </p:extLst>
          </p:nvPr>
        </p:nvGraphicFramePr>
        <p:xfrm>
          <a:off x="4191000" y="4457700"/>
          <a:ext cx="12192000" cy="220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/>
                <a:gridCol w="6096000"/>
              </a:tblGrid>
              <a:tr h="631371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rgbClr val="2C2C6A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Group Member Name</a:t>
                      </a:r>
                      <a:endParaRPr lang="en-US" sz="3200" b="1" dirty="0">
                        <a:solidFill>
                          <a:srgbClr val="2C2C6A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rgbClr val="2C2C6A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Registration No</a:t>
                      </a:r>
                      <a:endParaRPr lang="en-US" sz="3200" b="1" dirty="0">
                        <a:solidFill>
                          <a:srgbClr val="2C2C6A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26143">
                <a:tc>
                  <a:txBody>
                    <a:bodyPr/>
                    <a:lstStyle/>
                    <a:p>
                      <a:pPr algn="ctr"/>
                      <a:r>
                        <a:rPr sz="2400" b="1" dirty="0" smtClean="0">
                          <a:solidFill>
                            <a:srgbClr val="2C2C6A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MOIZ AHMED</a:t>
                      </a:r>
                      <a:endParaRPr sz="2400" b="1" dirty="0">
                        <a:solidFill>
                          <a:srgbClr val="2C2C6A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smtClean="0">
                          <a:solidFill>
                            <a:srgbClr val="2C2C6A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S3F22UBSCS008</a:t>
                      </a:r>
                      <a:endParaRPr sz="2400" b="1">
                        <a:solidFill>
                          <a:srgbClr val="2C2C6A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26143">
                <a:tc>
                  <a:txBody>
                    <a:bodyPr/>
                    <a:lstStyle/>
                    <a:p>
                      <a:pPr algn="ctr"/>
                      <a:r>
                        <a:rPr sz="2400" b="1" dirty="0" smtClean="0">
                          <a:solidFill>
                            <a:srgbClr val="2C2C6A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BISSMA IJAZ</a:t>
                      </a:r>
                      <a:endParaRPr sz="2400" b="1" dirty="0">
                        <a:solidFill>
                          <a:srgbClr val="2C2C6A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 smtClean="0">
                          <a:solidFill>
                            <a:srgbClr val="2C2C6A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S3F22UBSCS025</a:t>
                      </a:r>
                      <a:endParaRPr sz="2400" b="1" dirty="0">
                        <a:solidFill>
                          <a:srgbClr val="2C2C6A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26143">
                <a:tc>
                  <a:txBody>
                    <a:bodyPr/>
                    <a:lstStyle/>
                    <a:p>
                      <a:pPr algn="ctr"/>
                      <a:r>
                        <a:rPr sz="2400" b="1" smtClean="0">
                          <a:solidFill>
                            <a:srgbClr val="2C2C6A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ALI HAIDER</a:t>
                      </a:r>
                      <a:endParaRPr sz="2400" b="1">
                        <a:solidFill>
                          <a:srgbClr val="2C2C6A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 smtClean="0">
                          <a:solidFill>
                            <a:srgbClr val="2C2C6A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S3F22UBSCS091</a:t>
                      </a:r>
                      <a:endParaRPr sz="2400" b="1" dirty="0">
                        <a:solidFill>
                          <a:srgbClr val="2C2C6A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574028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72800" y="0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24561" y="2110698"/>
            <a:ext cx="7672225" cy="129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25"/>
              </a:lnSpc>
            </a:pPr>
            <a:r>
              <a:rPr lang="en-US" sz="88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52600" y="3884854"/>
            <a:ext cx="7191133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clothing stores today are very basic. Customers cannot compare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clothes,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difficult return processes, cannot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clothes,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rarely get instant customer support.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StitchSmart solves all these problems by creating an all-in-one AI-Assisted E-Commerce Store.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171048" y="2706625"/>
            <a:ext cx="6266052" cy="1931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44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Domain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clothing websites lack custom design tools,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comparison, automated return management, and 24/7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assistance.</a:t>
            </a: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167419" y="6805325"/>
            <a:ext cx="6266052" cy="1646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44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Scope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web store built with PHP &amp; MySQL combined with Python.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lnSpc>
                <a:spcPts val="2144"/>
              </a:lnSpc>
              <a:spcBef>
                <a:spcPct val="0"/>
              </a:spcBef>
            </a:pPr>
            <a:endParaRPr lang="en-US" sz="2400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595264" y="679347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062958" y="5132647"/>
            <a:ext cx="6348742" cy="1931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44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&amp; Industry </a:t>
            </a:r>
            <a:r>
              <a:rPr lang="en-US" sz="2800" b="1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Solves real-world shopping problems by combining modern AI features with local Pakistani retail needs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35587" y="5191921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514" y="7580376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72800" y="0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43035" y="1104421"/>
            <a:ext cx="9886439" cy="1526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925"/>
              </a:lnSpc>
            </a:pPr>
            <a:r>
              <a:rPr lang="en-US" sz="88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2994" y="2797276"/>
            <a:ext cx="7191133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online clothing stores today still rely on simple, outdated websites that do not meet the smart needs of modern shoppers.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features like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side-by-side Product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Comparison, a clear Return &amp; Refund System, custom Design Studio, or a 24/7 AI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>
              <a:lnSpc>
                <a:spcPct val="150000"/>
              </a:lnSpc>
            </a:pP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01400" y="2643587"/>
            <a:ext cx="5300480" cy="159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cannot easily compare fabric quality, pricing, colors, and sizing of two clothes side-by-side on typical websites.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23171" y="6619461"/>
            <a:ext cx="5300480" cy="104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clothes is a confusing, manual process without automated tracking.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595264" y="679347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201400" y="4500459"/>
            <a:ext cx="5300480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Admins waste hours manually writing product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descriptions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 to track low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stock.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95264" y="4718530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14" y="8343900"/>
            <a:ext cx="5776686" cy="19431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268200" y="0"/>
            <a:ext cx="6019800" cy="2074375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10047" y="1130945"/>
            <a:ext cx="7672225" cy="1442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850"/>
              </a:lnSpc>
            </a:pPr>
            <a:r>
              <a:rPr lang="en-US" sz="96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24561" y="5826167"/>
            <a:ext cx="7191133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</a:pPr>
            <a:r>
              <a:rPr lang="en-US" sz="1599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599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329659" y="2424991"/>
            <a:ext cx="5929641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complete and secure e-commerce website using PHP &amp; MySQL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Python &amp; Google AI for smart online features.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062959" y="6929091"/>
            <a:ext cx="6364184" cy="1041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test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real users and verify that everything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runs fast without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errors.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595264" y="7159963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230802" y="4657972"/>
            <a:ext cx="6196341" cy="1595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save time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AI to automatically write product descriptions, track low stock, and answer customer questions 24/7.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95264" y="4901775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754809"/>
              </p:ext>
            </p:extLst>
          </p:nvPr>
        </p:nvGraphicFramePr>
        <p:xfrm>
          <a:off x="1219200" y="2956840"/>
          <a:ext cx="8229600" cy="573865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62144"/>
                <a:gridCol w="4967456"/>
              </a:tblGrid>
              <a:tr h="5531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Objective</a:t>
                      </a:r>
                    </a:p>
                  </a:txBody>
                  <a:tcPr marL="65594" marR="65594" marT="32797" marB="3279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Our System Does</a:t>
                      </a:r>
                    </a:p>
                  </a:txBody>
                  <a:tcPr marL="65594" marR="65594" marT="32797" marB="3279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1236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Store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Builds a fast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clothing store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</a:tr>
              <a:tr h="82343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Studio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an interactive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</a:tr>
              <a:tr h="98800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an AI-powered chatbot that answers customer questions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</a:tr>
              <a:tr h="98800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</a:t>
                      </a:r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Automation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AI to automatically generate product descriptions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sends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</a:tr>
              <a:tr h="10930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Bug-Free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ensure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29" y="8343899"/>
            <a:ext cx="6701971" cy="1921101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0" y="114300"/>
            <a:ext cx="9144000" cy="10287000"/>
            <a:chOff x="0" y="0"/>
            <a:chExt cx="240829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C2C6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1734800" y="-868"/>
            <a:ext cx="6553200" cy="2282883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64508" y="812033"/>
            <a:ext cx="5404086" cy="80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0"/>
              </a:lnSpc>
            </a:pPr>
            <a:r>
              <a:rPr lang="en-US" sz="54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Systems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04537" y="4777836"/>
            <a:ext cx="5404086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</a:pPr>
            <a:r>
              <a:rPr lang="en-US" sz="1599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599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06994" y="838320"/>
            <a:ext cx="6463811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0"/>
              </a:lnSpc>
            </a:pPr>
            <a:r>
              <a:rPr lang="en-US" sz="54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Gaps &amp; References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34086" y="4777836"/>
            <a:ext cx="5404086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</a:pPr>
            <a:r>
              <a:rPr lang="en-US" sz="1599" dirty="0" smtClean="0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599" dirty="0">
              <a:solidFill>
                <a:srgbClr val="D9D9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rot="-10800000" flipH="1" flipV="1">
            <a:off x="16461070" y="8472814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604133" y="1037054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134" y="2738802"/>
            <a:ext cx="805119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Shopify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Dependent on costly third-party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AI chatbot.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WooCommerce: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live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customization.</a:t>
            </a: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Printful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Overwhelming B2B drop-shipping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CustomInk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acking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 payments and AI automation.</a:t>
            </a: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9760229" y="3071397"/>
            <a:ext cx="757527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Interactive Customization Tools: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Customization (MDPI Paper, 2022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sz="2400" b="1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of Real-Time RAG AI Assistants: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vs Scripts (Elsevier, 2023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Heavy Manual Workload for Administrators: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platforms require administrators to manually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orders (Sandra Santasärkkä Optimizing and Automation)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Inventory </a:t>
            </a: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Current e-commerce systems struggle to track stock levels accurately without automation, leading to frequent out-of-stock situations due to a lack of AI-driven low stock alerts (Tang et al., 2023).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193684"/>
            <a:ext cx="4800600" cy="1106015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468700" y="0"/>
            <a:ext cx="5818254" cy="2232569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8807" y="532373"/>
            <a:ext cx="9962639" cy="1577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2291"/>
              </a:lnSpc>
            </a:pPr>
            <a:r>
              <a:rPr lang="en-US" sz="96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24561" y="5826167"/>
            <a:ext cx="7191133" cy="25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8"/>
              </a:lnSpc>
            </a:pPr>
            <a:r>
              <a:rPr lang="en-US" sz="1598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598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01400" y="2551932"/>
            <a:ext cx="60579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Times New Roman"/>
              </a:rPr>
              <a:t>Proposed System: 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StitchSmart is an </a:t>
            </a:r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online 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store where customers can design </a:t>
            </a:r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clothes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and o</a:t>
            </a:r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wners 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can manage </a:t>
            </a:r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orders.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01400" y="7207590"/>
            <a:ext cx="6196342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b="1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Innovation:</a:t>
            </a: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incorporate   customization, comparison, product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descriptions, automated low-stock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 portal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595264" y="7207590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334751" y="4270421"/>
            <a:ext cx="5791198" cy="2682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Key Features: 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nteractive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24/7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utomatic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description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JazzCash payments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utomated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low-stock email alerts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 smtClean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lnSpc>
                <a:spcPts val="2238"/>
              </a:lnSpc>
              <a:spcBef>
                <a:spcPct val="0"/>
              </a:spcBef>
            </a:pPr>
            <a:endParaRPr lang="en-US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95264" y="4454774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752601" y="1943100"/>
            <a:ext cx="7848600" cy="7924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580376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94571" y="0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24561" y="2101173"/>
            <a:ext cx="7672225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75"/>
              </a:lnSpc>
            </a:pPr>
            <a:r>
              <a:rPr lang="en-US" sz="88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76400" y="3975936"/>
            <a:ext cx="7686739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built StitchSmart step-by-step using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technologies. We first created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pages, then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added admin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tools, and tested every feature carefully to make sure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errors.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01400" y="2654523"/>
            <a:ext cx="5300480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Development Methodology</a:t>
            </a:r>
            <a:r>
              <a:rPr lang="en-US" sz="2400" b="1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step-by-step approach was followed to design, build, and test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small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stages.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26032" y="7396895"/>
            <a:ext cx="5300480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b="1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AI Frameworks</a:t>
            </a:r>
            <a:r>
              <a:rPr lang="en-US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AI, LangChain, Sentence Transformers, FAISS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613406" y="735342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226032" y="4199210"/>
            <a:ext cx="610946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Technologies &amp; </a:t>
            </a:r>
            <a:r>
              <a:rPr lang="en-US" sz="2400" b="1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Tools: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Languages: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HTML5,CSS3 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 Bootstrap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Logic: PHP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Management: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Integrations: PHPMailer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JazzCash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0"/>
              </a:spcBef>
            </a:pPr>
            <a:r>
              <a:rPr lang="en-US" sz="2400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95263" y="4264503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42" y="7580376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72800" y="0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14600" y="154555"/>
            <a:ext cx="11326218" cy="128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53"/>
              </a:lnSpc>
            </a:pPr>
            <a:r>
              <a:rPr lang="en-US" sz="8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 – 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79798" y="9451867"/>
            <a:ext cx="5870759" cy="22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74"/>
              </a:lnSpc>
              <a:spcBef>
                <a:spcPct val="0"/>
              </a:spcBef>
            </a:pPr>
            <a:r>
              <a:rPr lang="en-US" sz="1339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339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19800" y="1688327"/>
            <a:ext cx="5870759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74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endParaRPr lang="en-US" sz="3200" b="1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ts val="1874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600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761" y="2052784"/>
            <a:ext cx="11049000" cy="7140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301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724900"/>
            <a:ext cx="4648200" cy="156199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182600" y="0"/>
            <a:ext cx="5105400" cy="22479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05200" y="-82669"/>
            <a:ext cx="11326218" cy="128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53"/>
              </a:lnSpc>
            </a:pPr>
            <a:r>
              <a:rPr lang="en-US" sz="8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 – 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79798" y="9451867"/>
            <a:ext cx="5870759" cy="22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74"/>
              </a:lnSpc>
              <a:spcBef>
                <a:spcPct val="0"/>
              </a:spcBef>
            </a:pPr>
            <a:r>
              <a:rPr lang="en-US" sz="1339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339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787841" y="1309887"/>
            <a:ext cx="5870759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4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Diagram</a:t>
            </a:r>
          </a:p>
          <a:p>
            <a:pPr marL="0" lvl="0" indent="0" algn="just">
              <a:lnSpc>
                <a:spcPts val="1874"/>
              </a:lnSpc>
              <a:spcBef>
                <a:spcPct val="0"/>
              </a:spcBef>
            </a:pPr>
            <a:r>
              <a:rPr lang="en-US" sz="1339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339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503156" y="9697754"/>
            <a:ext cx="16511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25400" y="9674877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435" y="1584977"/>
            <a:ext cx="12115800" cy="811277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039100"/>
            <a:ext cx="5715000" cy="22479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649200" y="0"/>
            <a:ext cx="5638800" cy="24003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52800" y="0"/>
            <a:ext cx="11326218" cy="1221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66"/>
              </a:lnSpc>
            </a:pPr>
            <a:r>
              <a:rPr lang="en-US" sz="8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 – 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47657" y="1474784"/>
            <a:ext cx="5870759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Diagram</a:t>
            </a:r>
          </a:p>
          <a:p>
            <a:pPr marL="0" lvl="0" indent="0" algn="ctr">
              <a:lnSpc>
                <a:spcPts val="1816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3200" b="1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52418" y="5343207"/>
            <a:ext cx="5870759" cy="21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16"/>
              </a:lnSpc>
              <a:spcBef>
                <a:spcPct val="0"/>
              </a:spcBef>
            </a:pPr>
            <a:r>
              <a:rPr lang="en-US" sz="1297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97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253804" y="9597867"/>
            <a:ext cx="315792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551389" y="9597867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974921"/>
            <a:ext cx="10210800" cy="762294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580376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725400" y="-36191"/>
            <a:ext cx="5562600" cy="2360291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98669" y="73758"/>
            <a:ext cx="11326218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66"/>
              </a:lnSpc>
            </a:pPr>
            <a:r>
              <a:rPr lang="en-US" sz="10166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</a:t>
            </a:r>
            <a:r>
              <a:rPr lang="en-US" sz="8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</a:t>
            </a:r>
            <a:r>
              <a:rPr lang="en-US" sz="10166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– 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36013" y="5343207"/>
            <a:ext cx="5870759" cy="21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16"/>
              </a:lnSpc>
              <a:spcBef>
                <a:spcPct val="0"/>
              </a:spcBef>
            </a:pPr>
            <a:r>
              <a:rPr lang="en-US" sz="1297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97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126399" y="1637153"/>
            <a:ext cx="587075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Diagram</a:t>
            </a:r>
          </a:p>
          <a:p>
            <a:pPr marL="0" lvl="0" indent="0" algn="just">
              <a:lnSpc>
                <a:spcPts val="1816"/>
              </a:lnSpc>
              <a:spcBef>
                <a:spcPct val="0"/>
              </a:spcBef>
            </a:pPr>
            <a:r>
              <a:rPr lang="en-US" sz="1297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97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199245" y="9210675"/>
            <a:ext cx="27251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9200" y="2098818"/>
            <a:ext cx="15697200" cy="648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1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57" y="8572500"/>
            <a:ext cx="4107543" cy="17145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268200" y="0"/>
            <a:ext cx="6019800" cy="25527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38400" y="-11277"/>
            <a:ext cx="11326218" cy="118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80"/>
              </a:lnSpc>
            </a:pPr>
            <a:r>
              <a:rPr lang="en-US" sz="8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 – III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34906" y="1244846"/>
            <a:ext cx="5870759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Diagram</a:t>
            </a:r>
          </a:p>
          <a:p>
            <a:pPr marL="0" lvl="0" indent="0" algn="ctr">
              <a:lnSpc>
                <a:spcPts val="1816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3200" b="1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52418" y="5343207"/>
            <a:ext cx="5870759" cy="21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16"/>
              </a:lnSpc>
              <a:spcBef>
                <a:spcPct val="0"/>
              </a:spcBef>
            </a:pPr>
            <a:r>
              <a:rPr lang="en-US" sz="1297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97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548651" y="9738022"/>
            <a:ext cx="277319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725400" y="9738022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3074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199" y="1638300"/>
            <a:ext cx="14141977" cy="8099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29" y="8724900"/>
            <a:ext cx="4492171" cy="15621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468700" y="0"/>
            <a:ext cx="5819300" cy="2019300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14600" y="-165746"/>
            <a:ext cx="11326218" cy="118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80"/>
              </a:lnSpc>
            </a:pPr>
            <a:r>
              <a:rPr lang="en-US" sz="80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 – III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0" y="1151477"/>
            <a:ext cx="587075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1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Diagram </a:t>
            </a:r>
            <a:r>
              <a:rPr lang="en-US" sz="3200" b="1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3200" b="1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366219" y="9791700"/>
            <a:ext cx="285335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551389" y="9791700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  <p:pic>
        <p:nvPicPr>
          <p:cNvPr id="4099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434790" y="-2413811"/>
            <a:ext cx="8142320" cy="1581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82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1283" y="7935725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1564083" y="-355349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52600" y="2095500"/>
            <a:ext cx="8474330" cy="2244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2"/>
              </a:lnSpc>
            </a:pPr>
            <a:r>
              <a:rPr lang="en-US" sz="8492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Progress – 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52600" y="4850750"/>
            <a:ext cx="8057639" cy="2677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presents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status of our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system.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proud to report that 100%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planned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work has been successfully completed.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</a:pP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479650" y="2095500"/>
            <a:ext cx="5300480" cy="2400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Completed Modules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User  </a:t>
            </a: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Registration Module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Database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Schema Design &amp; </a:t>
            </a: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Setup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Core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Backend API </a:t>
            </a: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Development 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Admin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Dashboard UI implemented successfully.</a:t>
            </a:r>
          </a:p>
        </p:txBody>
      </p:sp>
      <p:sp>
        <p:nvSpPr>
          <p:cNvPr id="7" name="Freeform 7"/>
          <p:cNvSpPr/>
          <p:nvPr/>
        </p:nvSpPr>
        <p:spPr>
          <a:xfrm flipH="1" flipV="1">
            <a:off x="10793320" y="2351276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82030" y="6924618"/>
            <a:ext cx="5300480" cy="217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15"/>
              </a:lnSpc>
              <a:spcBef>
                <a:spcPct val="0"/>
              </a:spcBef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Milestones </a:t>
            </a:r>
            <a:r>
              <a:rPr lang="en-US" sz="2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Achieved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approved, Live Customization UI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RAG Chatbot deployed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successfully.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lnSpc>
                <a:spcPts val="2015"/>
              </a:lnSpc>
              <a:spcBef>
                <a:spcPct val="0"/>
              </a:spcBef>
            </a:pP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793319" y="6924618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479650" y="4753383"/>
            <a:ext cx="5300480" cy="191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15"/>
              </a:lnSpc>
              <a:spcBef>
                <a:spcPct val="0"/>
              </a:spcBef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Current Development Status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roject modules have fully developed. Unit testing for Chatbot workflows have been successfully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completed.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793319" y="4753383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189626" y="9210675"/>
            <a:ext cx="291747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flipH="1" flipV="1">
            <a:off x="8008090" y="783815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977609" y="1239833"/>
            <a:ext cx="8190363" cy="228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45"/>
              </a:lnSpc>
            </a:pPr>
            <a:r>
              <a:rPr lang="en-US" sz="8250" b="1" spc="66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Progress – II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77609" y="4378016"/>
            <a:ext cx="9434091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screenshots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illustrate core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developed, including our Interactive Custom Hoodie Design Canvas, intelligent 24/7 AI RAG Chatbot, and the Admin Inventory Control Dashboard.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557498" y="7838157"/>
            <a:ext cx="9349502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Figure 1: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Interactive Custom Hoodie Design Canvas illustrating live product customization, color selection, and real-time visual rendering.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599556" y="7838157"/>
            <a:ext cx="3598896" cy="25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  <a:spcBef>
                <a:spcPct val="0"/>
              </a:spcBef>
            </a:pPr>
            <a:r>
              <a:rPr lang="en-US" sz="1598" b="1" dirty="0" smtClean="0">
                <a:solidFill>
                  <a:srgbClr val="D9D9D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endParaRPr lang="en-US" sz="1598" b="1" dirty="0">
              <a:solidFill>
                <a:srgbClr val="D9D9D9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647700"/>
            <a:ext cx="70104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220127" y="9579013"/>
            <a:ext cx="4366325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</a:t>
            </a:r>
            <a:r>
              <a:rPr lang="en-US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15</a:t>
            </a:r>
            <a:endParaRPr lang="en-US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215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flipH="1" flipV="1">
            <a:off x="8001000" y="733547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848600" y="647700"/>
            <a:ext cx="8190363" cy="228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45"/>
              </a:lnSpc>
            </a:pPr>
            <a:r>
              <a:rPr lang="en-US" sz="8250" b="1" spc="66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Progress – II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48600" y="3549608"/>
            <a:ext cx="9281691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screenshots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illustrate core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developed, including our Interactive Custom Hoodie Design Canvas, intelligent 24/7 AI RAG Chatbot, and the Admin Inventory Control Dashboard.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2046" y="7838157"/>
            <a:ext cx="3598896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238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468695" y="7335472"/>
            <a:ext cx="9583615" cy="1041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2: 24/7 AI RAG Chatbot </a:t>
            </a: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assisting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with instant sizing recommendations and tailoring queries.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7700"/>
            <a:ext cx="6553200" cy="8915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477490" y="9434286"/>
            <a:ext cx="4366325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 </a:t>
            </a:r>
            <a:r>
              <a:rPr lang="en-US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lang="en-US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81938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580376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72800" y="-34873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89191" y="2138679"/>
            <a:ext cx="7672225" cy="1471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300"/>
              </a:lnSpc>
            </a:pPr>
            <a:r>
              <a:rPr lang="en-US" sz="960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99217" y="4000500"/>
            <a:ext cx="7191133" cy="315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This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section outlines </a:t>
            </a:r>
            <a:r>
              <a:rPr lang="en-US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testing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strategies used to </a:t>
            </a:r>
            <a:r>
              <a:rPr lang="en-US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verify performance of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StitchSmart. Rigorous multi-level testing was performed to ensure that the custom e-commerce </a:t>
            </a:r>
            <a:r>
              <a:rPr lang="en-US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workflows and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automated email alerts operate seamlessly for all users.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62959" y="2643587"/>
            <a:ext cx="5300480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Testing: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was performed on individual core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 validated specific system features against project requirements.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01400" y="6793472"/>
            <a:ext cx="530048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Findings &amp; Stability: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AI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passed successfully. Minor data-sync bugs identified during PHP-MySQL integration testing were resolved.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595264" y="679347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066588" y="4904364"/>
            <a:ext cx="530048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Test Cases: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tested with credentials. API payload tested for limits. End-to-end checkout data flow tested from cart to admin database 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95264" y="4930548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04053" y="9210675"/>
            <a:ext cx="262893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581245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C2C6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0972800" y="0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81200" y="1352444"/>
            <a:ext cx="5404086" cy="1770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0"/>
              </a:lnSpc>
            </a:pPr>
            <a:r>
              <a:rPr lang="en-US" sz="6690" b="1" dirty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Faced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9235" y="3619500"/>
            <a:ext cx="7022765" cy="397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Accuracy: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hatbot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gave irrelevant and out-of-context responses 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Canvas Performance: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Real-time hoodie customization with color, text, and logo updates caused slow rendering on low-end devices.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relational database that efficiently links users,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orders,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inventory was complex.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Delivery Issues: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Automated order confirmation emails were not being sent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ts val="2238"/>
              </a:lnSpc>
            </a:pP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058400" y="1352986"/>
            <a:ext cx="6463811" cy="92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0"/>
              </a:lnSpc>
            </a:pPr>
            <a:r>
              <a:rPr lang="en-US" sz="669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Solutions Applied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28045" y="3417329"/>
            <a:ext cx="6458537" cy="4344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 Accuracy: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Implemented RAG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custom store knowledge base to restrict and improve chatbot responses.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Canvas Performance: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Optimized HTML5 Canvas API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smooth preview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Created a normalized MySQL schema with proper foreign key relationships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manage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Delivery Issues: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Configured PHPMailer with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SMTP credentials for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reliable email automation.</a:t>
            </a:r>
          </a:p>
          <a:p>
            <a:pPr marL="0" lvl="0" indent="0" algn="just">
              <a:lnSpc>
                <a:spcPts val="2238"/>
              </a:lnSpc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rot="-10800000" flipH="1" flipV="1">
            <a:off x="16786582" y="8472814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359235" y="1352444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15704" y="9616735"/>
            <a:ext cx="4366325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 </a:t>
            </a:r>
            <a:r>
              <a:rPr lang="en-US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lang="en-US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0972801" y="6793472"/>
            <a:ext cx="5598299" cy="14742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972800" y="4610100"/>
            <a:ext cx="5598300" cy="16545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972800" y="2643587"/>
            <a:ext cx="5598300" cy="1544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7580376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72800" y="0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24561" y="2148798"/>
            <a:ext cx="7672225" cy="148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291"/>
              </a:lnSpc>
            </a:pPr>
            <a:r>
              <a:rPr lang="en-US" sz="9600" b="1" dirty="0" smtClean="0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</a:t>
            </a:r>
            <a:endParaRPr lang="en-US" sz="9600" b="1" dirty="0">
              <a:solidFill>
                <a:srgbClr val="2C2C6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10047" y="4125087"/>
            <a:ext cx="7191133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section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outlines planned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and future enhancements for StitchSmart. The following goals will guide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platform's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beyond the Final Year Project scope.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01400" y="2710785"/>
            <a:ext cx="530048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Tasks: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 live payment gateway 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 current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dummy checkout,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expand Chatbot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broader query coverage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435885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052073" y="6812933"/>
            <a:ext cx="5438921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Scale into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multi-vendor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marketplace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designers, introduce personalize style recommendations,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explore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Pakistan.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435883" y="700914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201400" y="4691316"/>
            <a:ext cx="53697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Roadmap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include replacing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dummy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JazzCash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gateway. Mid-term goals focus on building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Android. 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435884" y="4691316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184817" y="9210675"/>
            <a:ext cx="301366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  <a:endParaRPr lang="en-US" sz="2000" dirty="0">
              <a:solidFill>
                <a:srgbClr val="2C2C6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625434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0972800" y="-39224"/>
            <a:ext cx="7315200" cy="2706624"/>
          </a:xfrm>
          <a:custGeom>
            <a:avLst/>
            <a:gdLst/>
            <a:ahLst/>
            <a:cxnLst/>
            <a:rect l="l" t="t" r="r" b="b"/>
            <a:pathLst>
              <a:path w="7315200" h="2706624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24561" y="2129748"/>
            <a:ext cx="7672225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50"/>
              </a:lnSpc>
            </a:pPr>
            <a:r>
              <a:rPr lang="en-US" sz="11250" b="1">
                <a:solidFill>
                  <a:srgbClr val="2C2C6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99217" y="4198678"/>
            <a:ext cx="7191133" cy="270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StitchSmart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addressed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Pakistan's custom clothing market by delivering a fully functional e-commerce platform with AI-powered assistance, interactive product customization, and seamless order management.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70216" y="2640260"/>
            <a:ext cx="530048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StitchSmart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 complete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browsing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order placement and real-time admin management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595264" y="2643587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106502" y="6793472"/>
            <a:ext cx="530048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StitchSmart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potential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real-world impact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Pakistan's fashion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market. Future enhancements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can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 value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0595264" y="6793472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3"/>
                </a:moveTo>
                <a:lnTo>
                  <a:pt x="0" y="461743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081102" y="4718530"/>
            <a:ext cx="530048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2400" dirty="0" smtClean="0">
                <a:solidFill>
                  <a:srgbClr val="2C2C6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StitchSmart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fully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tested, and successfully deployed. Implementation stands at a completed state across all core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modules.</a:t>
            </a:r>
            <a:endParaRPr lang="en-US" sz="2400" dirty="0">
              <a:solidFill>
                <a:srgbClr val="2C2C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595264" y="4718530"/>
            <a:ext cx="467695" cy="461743"/>
          </a:xfrm>
          <a:custGeom>
            <a:avLst/>
            <a:gdLst/>
            <a:ahLst/>
            <a:cxnLst/>
            <a:rect l="l" t="t" r="r" b="b"/>
            <a:pathLst>
              <a:path w="467695" h="461743">
                <a:moveTo>
                  <a:pt x="467695" y="461742"/>
                </a:moveTo>
                <a:lnTo>
                  <a:pt x="0" y="461742"/>
                </a:lnTo>
                <a:lnTo>
                  <a:pt x="0" y="0"/>
                </a:lnTo>
                <a:lnTo>
                  <a:pt x="467695" y="0"/>
                </a:lnTo>
                <a:lnTo>
                  <a:pt x="467695" y="4617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468700" y="9193685"/>
            <a:ext cx="4860311" cy="34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 dirty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</a:t>
            </a:r>
            <a:r>
              <a:rPr lang="en-US" sz="2081" dirty="0" smtClean="0">
                <a:solidFill>
                  <a:srgbClr val="2C2C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20</a:t>
            </a:r>
            <a:endParaRPr lang="en-US" sz="2081" dirty="0">
              <a:solidFill>
                <a:srgbClr val="2C2C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35855" y="2743970"/>
            <a:ext cx="15216291" cy="373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83"/>
              </a:lnSpc>
            </a:pPr>
            <a:r>
              <a:rPr lang="en-US" sz="2127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83256" y="6279243"/>
            <a:ext cx="14521489" cy="431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7"/>
              </a:lnSpc>
            </a:pPr>
            <a:r>
              <a:rPr lang="en-US" sz="2498" spc="499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WELCOME YOUR QUESTIONS AND FEEDBACK.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C6A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11200" y="9410700"/>
            <a:ext cx="4366325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 | FYP  | </a:t>
            </a:r>
            <a:r>
              <a:rPr lang="en-US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endParaRPr lang="en-US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5403</TotalTime>
  <Words>1300</Words>
  <Application>Microsoft Office PowerPoint</Application>
  <PresentationFormat>Custom</PresentationFormat>
  <Paragraphs>202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Times New Roman Bold</vt:lpstr>
      <vt:lpstr>Arial</vt:lpstr>
      <vt:lpstr>Tahoma</vt:lpstr>
      <vt:lpstr>Canva Sans</vt:lpstr>
      <vt:lpstr>Times New Roman MT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Presentation (Outline)</dc:title>
  <cp:lastModifiedBy>USER</cp:lastModifiedBy>
  <cp:revision>52</cp:revision>
  <dcterms:created xsi:type="dcterms:W3CDTF">2006-08-16T00:00:00Z</dcterms:created>
  <dcterms:modified xsi:type="dcterms:W3CDTF">2026-07-20T10:20:44Z</dcterms:modified>
  <dc:identifier>DAHO-V1CWnI</dc:identifier>
</cp:coreProperties>
</file>